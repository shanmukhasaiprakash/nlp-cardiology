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33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A7C79">
              <a:alpha val="20000"/>
            </a:srgbClr>
          </a:solidFill>
          <a:ln w="12700">
            <a:solidFill>
              <a:srgbClr val="0A7C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12A19E">
              <a:alpha val="30000"/>
            </a:srgbClr>
          </a:solidFill>
          <a:ln w="12700">
            <a:solidFill>
              <a:srgbClr val="12A19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6400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CAC8"/>
                </a:solidFill>
              </a:rPr>
              <a:t>BINF5312 • NATURAL LANGUAGE PROCESSING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to Extract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193852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A1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Risk Factors,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54203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 &amp; Outcomes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314553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Abstracts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2286000" cy="36576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Shanmukha Sai Prakash Jeelakarra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</a:rPr>
              <a:t>Rutgers University  •  Healthcare Informatics  • 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02920" cy="105156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Problem &amp;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733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CVD burden, data challenges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43000"/>
            <a:ext cx="502920" cy="105156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716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Dataset &amp; 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6733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Cardio_v1, text cleaning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04872"/>
            <a:ext cx="502920" cy="105156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334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4963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Biomedical NER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9352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d4data model, entity 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40487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404872"/>
            <a:ext cx="502920" cy="105156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334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4963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Clustering &amp; Embeddings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9352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MiniLM, KMeans, PCA viz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6674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66744"/>
            <a:ext cx="502920" cy="105156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9534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75818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Relation Extraction &amp; Knowledge Graph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1970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Zero-shot, NetworkX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66674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666744"/>
            <a:ext cx="502920" cy="105156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89534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75818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Evaluation &amp; Results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1970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Precision, Recall, F1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463040"/>
          </a:xfrm>
          <a:prstGeom prst="rect">
            <a:avLst/>
          </a:prstGeom>
          <a:solidFill>
            <a:srgbClr val="0A7C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~20M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F6F6"/>
                </a:solidFill>
              </a:rPr>
              <a:t>CVD Deaths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FF6F6"/>
                </a:solidFill>
              </a:rPr>
              <a:t>Annually (WHO, 2021)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560320" cy="1463040"/>
          </a:xfrm>
          <a:prstGeom prst="rect">
            <a:avLst/>
          </a:prstGeom>
          <a:solidFill>
            <a:srgbClr val="0A7C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43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5,000+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F6F6"/>
                </a:solidFill>
              </a:rPr>
              <a:t>PubMed Abstracts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FF6F6"/>
                </a:solidFill>
              </a:rPr>
              <a:t>Analyzed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560320" cy="1463040"/>
          </a:xfrm>
          <a:prstGeom prst="rect">
            <a:avLst/>
          </a:prstGeom>
          <a:solidFill>
            <a:srgbClr val="0A7C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43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Manual?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F6F6"/>
                </a:solidFill>
              </a:rPr>
              <a:t>Impossible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FF6F6"/>
                </a:solidFill>
              </a:rPr>
              <a:t>Review at Scale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931920" cy="20116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73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</a:rPr>
              <a:t>❌  The Challenge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Most biomedical knowledge lives in </a:t>
            </a:r>
            <a:r>
              <a:rPr lang="en-US" sz="1100" b="1" dirty="0">
                <a:solidFill>
                  <a:srgbClr val="1A2E35"/>
                </a:solidFill>
              </a:rPr>
              <a:t>unstructured text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Manual extraction is impractical at scale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Key clinical relationships often go unmined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Limits clinical decision-support systems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393192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C79"/>
                </a:solidFill>
              </a:rPr>
              <a:t>✅  The NLP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20040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Automated NLP pipeline to extract: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Risk factors (e.g. hypertension, obesity)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Treatments (e.g. amiodarone, ablation)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Outcomes (e.g. mortality, survival)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91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3E"/>
                </a:solidFill>
              </a:rPr>
              <a:t>Cardio_v1 Dataset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7D"/>
                </a:solidFill>
              </a:rPr>
              <a:t>Hugging Face (InMedData, 2025)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2377440"/>
            <a:ext cx="3657600" cy="36576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423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Source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11680" y="24231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PubMed Cardiology Abstracts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807208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8529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Rows Loaded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11680" y="28529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5,000 (nrows=5000)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236976"/>
            <a:ext cx="3657600" cy="36576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2826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Fields Used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0" y="328269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title + abst → text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666744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3712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NER Applied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11680" y="37124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First 1,000 rows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4096512"/>
            <a:ext cx="3657600" cy="36576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41422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Relation Ext.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011680" y="41422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First 50 rows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1772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E"/>
                </a:solidFill>
              </a:rPr>
              <a:t>Preprocessing Pipeline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617720" y="1554480"/>
            <a:ext cx="384048" cy="384048"/>
          </a:xfrm>
          <a:prstGeom prst="ellipse">
            <a:avLst/>
          </a:prstGeom>
          <a:solidFill>
            <a:srgbClr val="0A7C79"/>
          </a:solidFill>
          <a:ln/>
        </p:spPr>
      </p:sp>
      <p:sp>
        <p:nvSpPr>
          <p:cNvPr id="25" name="Text 22"/>
          <p:cNvSpPr/>
          <p:nvPr/>
        </p:nvSpPr>
        <p:spPr>
          <a:xfrm>
            <a:off x="461772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91456" y="1938528"/>
            <a:ext cx="36576" cy="320040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27" name="Shape 24"/>
          <p:cNvSpPr/>
          <p:nvPr/>
        </p:nvSpPr>
        <p:spPr>
          <a:xfrm>
            <a:off x="5120640" y="1508760"/>
            <a:ext cx="3474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57800" y="15453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Combine Fields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57800" y="18013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title + abst → single text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17720" y="2240280"/>
            <a:ext cx="384048" cy="384048"/>
          </a:xfrm>
          <a:prstGeom prst="ellipse">
            <a:avLst/>
          </a:prstGeom>
          <a:solidFill>
            <a:srgbClr val="0A7C79"/>
          </a:solidFill>
          <a:ln/>
        </p:spPr>
      </p:sp>
      <p:sp>
        <p:nvSpPr>
          <p:cNvPr id="31" name="Text 28"/>
          <p:cNvSpPr/>
          <p:nvPr/>
        </p:nvSpPr>
        <p:spPr>
          <a:xfrm>
            <a:off x="461772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791456" y="2624328"/>
            <a:ext cx="36576" cy="320040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33" name="Shape 30"/>
          <p:cNvSpPr/>
          <p:nvPr/>
        </p:nvSpPr>
        <p:spPr>
          <a:xfrm>
            <a:off x="5120640" y="2194560"/>
            <a:ext cx="3474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257800" y="22311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Lowercase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57800" y="24871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Normalize capitalization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17720" y="2926080"/>
            <a:ext cx="384048" cy="384048"/>
          </a:xfrm>
          <a:prstGeom prst="ellipse">
            <a:avLst/>
          </a:prstGeom>
          <a:solidFill>
            <a:srgbClr val="0A7C79"/>
          </a:solidFill>
          <a:ln/>
        </p:spPr>
      </p:sp>
      <p:sp>
        <p:nvSpPr>
          <p:cNvPr id="37" name="Text 34"/>
          <p:cNvSpPr/>
          <p:nvPr/>
        </p:nvSpPr>
        <p:spPr>
          <a:xfrm>
            <a:off x="461772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791456" y="3310128"/>
            <a:ext cx="36576" cy="320040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39" name="Shape 36"/>
          <p:cNvSpPr/>
          <p:nvPr/>
        </p:nvSpPr>
        <p:spPr>
          <a:xfrm>
            <a:off x="5120640" y="2880360"/>
            <a:ext cx="3474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5257800" y="29169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Remove Punctuation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257800" y="3172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Regex: keep [a-z\s] only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17720" y="3611880"/>
            <a:ext cx="384048" cy="384048"/>
          </a:xfrm>
          <a:prstGeom prst="ellipse">
            <a:avLst/>
          </a:prstGeom>
          <a:solidFill>
            <a:srgbClr val="0A7C79"/>
          </a:solidFill>
          <a:ln/>
        </p:spPr>
      </p:sp>
      <p:sp>
        <p:nvSpPr>
          <p:cNvPr id="43" name="Text 40"/>
          <p:cNvSpPr/>
          <p:nvPr/>
        </p:nvSpPr>
        <p:spPr>
          <a:xfrm>
            <a:off x="461772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791456" y="3995928"/>
            <a:ext cx="36576" cy="320040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45" name="Shape 42"/>
          <p:cNvSpPr/>
          <p:nvPr/>
        </p:nvSpPr>
        <p:spPr>
          <a:xfrm>
            <a:off x="5120640" y="3566160"/>
            <a:ext cx="3474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257800" y="36027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Tokenize &amp; Filter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257800" y="38587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Remove stopwords, len &gt; 2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617720" y="4297680"/>
            <a:ext cx="384048" cy="384048"/>
          </a:xfrm>
          <a:prstGeom prst="ellipse">
            <a:avLst/>
          </a:prstGeom>
          <a:solidFill>
            <a:srgbClr val="0A7C79"/>
          </a:solidFill>
          <a:ln/>
        </p:spPr>
      </p:sp>
      <p:sp>
        <p:nvSpPr>
          <p:cNvPr id="49" name="Text 46"/>
          <p:cNvSpPr/>
          <p:nvPr/>
        </p:nvSpPr>
        <p:spPr>
          <a:xfrm>
            <a:off x="461772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5120640" y="4251960"/>
            <a:ext cx="3474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5257800" y="42885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Store clean Column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257800" y="45445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7D"/>
                </a:solidFill>
              </a:rPr>
              <a:t>df['clean'] ready for NLP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Biomedical Named Entity Recognition (NER)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014984"/>
            <a:ext cx="8412480" cy="658368"/>
          </a:xfrm>
          <a:prstGeom prst="rect">
            <a:avLst/>
          </a:prstGeom>
          <a:solidFill>
            <a:srgbClr val="0A7C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Model: d4data/biomedical-ner-all  (HuggingFace Transformers)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901952"/>
            <a:ext cx="347472" cy="34747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186537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Chunk Input: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16352" y="186537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D"/>
                </a:solidFill>
              </a:rPr>
              <a:t>Text truncated to 1,024 characters for BERT context window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" y="2249424"/>
            <a:ext cx="36576" cy="210312"/>
          </a:xfrm>
          <a:prstGeom prst="rect">
            <a:avLst/>
          </a:prstGeom>
          <a:solidFill>
            <a:srgbClr val="7ECAC8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2496312"/>
            <a:ext cx="347472" cy="34747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496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" y="24597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Run NER Pipeline: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816352" y="245973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D"/>
                </a:solidFill>
              </a:rPr>
              <a:t>aggregation_strategy='simple' — merges subword tokens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1208" y="2843784"/>
            <a:ext cx="36576" cy="210312"/>
          </a:xfrm>
          <a:prstGeom prst="rect">
            <a:avLst/>
          </a:prstGeom>
          <a:solidFill>
            <a:srgbClr val="7ECAC8"/>
          </a:solidFill>
          <a:ln/>
        </p:spPr>
      </p:sp>
      <p:sp>
        <p:nvSpPr>
          <p:cNvPr id="17" name="Shape 14"/>
          <p:cNvSpPr/>
          <p:nvPr/>
        </p:nvSpPr>
        <p:spPr>
          <a:xfrm>
            <a:off x="365760" y="3090672"/>
            <a:ext cx="347472" cy="34747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" y="305409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Merge ##fragments: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816352" y="305409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D"/>
                </a:solidFill>
              </a:rPr>
              <a:t>Subword pieces starting with ## stitched back to full words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21208" y="3438144"/>
            <a:ext cx="36576" cy="210312"/>
          </a:xfrm>
          <a:prstGeom prst="rect">
            <a:avLst/>
          </a:prstGeom>
          <a:solidFill>
            <a:srgbClr val="7ECAC8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85032"/>
            <a:ext cx="347472" cy="34747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685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1248" y="364845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Filter Noise: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816352" y="364845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D"/>
                </a:solidFill>
              </a:rPr>
              <a:t>Remove: len ≤ 4, non-alpha, bad_words set, broken fragments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21208" y="4032504"/>
            <a:ext cx="36576" cy="210312"/>
          </a:xfrm>
          <a:prstGeom prst="rect">
            <a:avLst/>
          </a:prstGeom>
          <a:solidFill>
            <a:srgbClr val="7ECAC8"/>
          </a:solidFill>
          <a:ln/>
        </p:spPr>
      </p:sp>
      <p:sp>
        <p:nvSpPr>
          <p:cNvPr id="27" name="Shape 24"/>
          <p:cNvSpPr/>
          <p:nvPr/>
        </p:nvSpPr>
        <p:spPr>
          <a:xfrm>
            <a:off x="365760" y="4279392"/>
            <a:ext cx="347472" cy="34747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4279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4281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Return Entity List: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816352" y="424281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D"/>
                </a:solidFill>
              </a:rPr>
              <a:t>Unique lowercase medical terms per abstract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6576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</a:rPr>
              <a:t>Entities Classified Into: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65760" y="4663440"/>
            <a:ext cx="2697480" cy="384048"/>
          </a:xfrm>
          <a:prstGeom prst="rect">
            <a:avLst/>
          </a:prstGeom>
          <a:solidFill>
            <a:srgbClr val="E539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38912" y="4690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Disease / Condition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38912" y="4864608"/>
            <a:ext cx="2560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F6F6"/>
                </a:solidFill>
              </a:rPr>
              <a:t>fibrillation, tachycardia, infarction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46120" y="4663440"/>
            <a:ext cx="2697480" cy="384048"/>
          </a:xfrm>
          <a:prstGeom prst="rect">
            <a:avLst/>
          </a:prstGeom>
          <a:solidFill>
            <a:srgbClr val="0A7C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319272" y="4690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Treatment / Drug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319272" y="4864608"/>
            <a:ext cx="2560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F6F6"/>
                </a:solidFill>
              </a:rPr>
              <a:t>amiodarone, ablation, bypass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126480" y="4663440"/>
            <a:ext cx="2697480" cy="384048"/>
          </a:xfrm>
          <a:prstGeom prst="rect">
            <a:avLst/>
          </a:prstGeom>
          <a:solidFill>
            <a:srgbClr val="F57F1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199632" y="4690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Outcome / Risk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199632" y="4864608"/>
            <a:ext cx="2560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F6F6"/>
                </a:solidFill>
              </a:rPr>
              <a:t>mortality, survival, hypertension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65760" y="5093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A7D"/>
                </a:solidFill>
              </a:rPr>
              <a:t>📌  Placeholder for your NER output screenshot here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Semantic Clustering with Embeddings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1097280"/>
          </a:xfrm>
          <a:prstGeom prst="rect">
            <a:avLst/>
          </a:prstGeom>
          <a:solidFill>
            <a:srgbClr val="0A7C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Sentence Embeddings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SentenceTransformer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all-MiniLM-L6-v2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384-dim dense vectors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359152"/>
            <a:ext cx="3657600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3230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KMeans Clustering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70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5 clusters  •  random_state=42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n_init=10  •  5,000 abstracts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621024"/>
            <a:ext cx="3657600" cy="1097280"/>
          </a:xfrm>
          <a:prstGeom prst="rect">
            <a:avLst/>
          </a:prstGeom>
          <a:solidFill>
            <a:srgbClr val="2866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69417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PCA Visualization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03250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Reduce to 2D for plotting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seaborn scatterplot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F6F6"/>
                </a:solidFill>
              </a:rPr>
              <a:t>Color-coded by cluster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051560"/>
            <a:ext cx="4251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</a:rPr>
              <a:t>Fig 1: Biomedical Abstract Clustering (PCA)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481328"/>
            <a:ext cx="3977640" cy="2852928"/>
          </a:xfrm>
          <a:prstGeom prst="rect">
            <a:avLst/>
          </a:prstGeom>
          <a:solidFill>
            <a:srgbClr val="EFF6F6"/>
          </a:solidFill>
          <a:ln w="12700">
            <a:solidFill>
              <a:srgbClr val="B0C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5603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7D"/>
                </a:solidFill>
              </a:rPr>
              <a:t>📊  Paste your PCA scatter plot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A7A7D"/>
                </a:solidFill>
              </a:rPr>
              <a:t>(Fig 1) here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1F885B-D085-4C3A-41F8-7F6714C18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060703"/>
            <a:ext cx="4251960" cy="37490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Relation Extraction &amp; Knowledge 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EFF6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Model: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valhalla/distilbart-mnli-12-3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Task: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Zero-shot text classification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79"/>
                </a:solidFill>
              </a:rPr>
              <a:t>Relation Labels: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3566160" cy="292608"/>
          </a:xfrm>
          <a:prstGeom prst="rect">
            <a:avLst/>
          </a:prstGeom>
          <a:solidFill>
            <a:srgbClr val="0A7C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4963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3566160" cy="292608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8437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causes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3566160" cy="292608"/>
          </a:xfrm>
          <a:prstGeom prst="rect">
            <a:avLst/>
          </a:prstGeom>
          <a:solidFill>
            <a:srgbClr val="E539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1912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increases_risk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3566160" cy="292608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5387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reduces_risk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858768"/>
            <a:ext cx="3566160" cy="292608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8862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associated_with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7D"/>
                </a:solidFill>
              </a:rPr>
              <a:t>Threshold: score &gt; 0.30  |  Scope: first 50 abstracts, top 3 entities each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1005840"/>
            <a:ext cx="4251960" cy="3749040"/>
          </a:xfrm>
          <a:prstGeom prst="rect">
            <a:avLst/>
          </a:prstGeom>
          <a:solidFill>
            <a:srgbClr val="EFF6F6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107899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3E"/>
                </a:solidFill>
              </a:rPr>
              <a:t>Fig 2: Knowledge Graph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1481328"/>
            <a:ext cx="3977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5603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7D"/>
                </a:solidFill>
              </a:rPr>
              <a:t>🕸️  Paste your Knowledge Graph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A7A7D"/>
                </a:solidFill>
              </a:rPr>
              <a:t>(Fig 2) here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36BF10E-A504-8C6C-8AE3-BD69A5AAE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005840"/>
            <a:ext cx="42519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Analysis Visualizations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438912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033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Fig 3: Top Entities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514600" cy="2286000"/>
          </a:xfrm>
          <a:prstGeom prst="rect">
            <a:avLst/>
          </a:prstGeom>
          <a:solidFill>
            <a:srgbClr val="EFF6F6"/>
          </a:solidFill>
          <a:ln w="12700">
            <a:solidFill>
              <a:srgbClr val="B0C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</a:rPr>
              <a:t>📊  Paste Fig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</a:rPr>
              <a:t>here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</a:rPr>
              <a:t>Most frequent biomedical terms extracted across corpus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97480" cy="438912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1033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Fig 4: Cluster Distribution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508760"/>
            <a:ext cx="2514600" cy="2286000"/>
          </a:xfrm>
          <a:prstGeom prst="rect">
            <a:avLst/>
          </a:prstGeom>
          <a:solidFill>
            <a:srgbClr val="EFF6F6"/>
          </a:solidFill>
          <a:ln w="12700">
            <a:solidFill>
              <a:srgbClr val="B0C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</a:rPr>
              <a:t>📊  Paste Fig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</a:rPr>
              <a:t>here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</a:rPr>
              <a:t>How abstracts spread across 5 semantic clusters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05840"/>
            <a:ext cx="2697480" cy="438912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18" name="Text 16"/>
          <p:cNvSpPr/>
          <p:nvPr/>
        </p:nvSpPr>
        <p:spPr>
          <a:xfrm>
            <a:off x="6153912" y="1033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Fig 5: Relation Types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508760"/>
            <a:ext cx="2514600" cy="2286000"/>
          </a:xfrm>
          <a:prstGeom prst="rect">
            <a:avLst/>
          </a:prstGeom>
          <a:solidFill>
            <a:srgbClr val="EFF6F6"/>
          </a:solidFill>
          <a:ln w="12700">
            <a:solidFill>
              <a:srgbClr val="B0C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</a:rPr>
              <a:t>📊  Paste Fig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</a:rPr>
              <a:t>here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</a:rPr>
              <a:t>Distribution of extracted relation labels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CE90D5-13E3-BB42-86A6-C85FF801C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08761"/>
            <a:ext cx="2514600" cy="2286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50375CC-575F-E6E7-6E2F-EBA3CDB84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508760"/>
            <a:ext cx="2514600" cy="2286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552FB6-E9ED-C88C-7A82-E1A8C2ADC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502664"/>
            <a:ext cx="2514600" cy="2292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560320" cy="1737360"/>
          </a:xfrm>
          <a:prstGeom prst="rect">
            <a:avLst/>
          </a:prstGeom>
          <a:solidFill>
            <a:srgbClr val="0D2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A19E"/>
                </a:solidFill>
              </a:rPr>
              <a:t>0.0657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212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Precision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4"/>
                </a:solidFill>
              </a:rPr>
              <a:t>TP / (TP + FP)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1737360"/>
          </a:xfrm>
          <a:prstGeom prst="rect">
            <a:avLst/>
          </a:prstGeom>
          <a:solidFill>
            <a:srgbClr val="0D2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15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A19E"/>
                </a:solidFill>
              </a:rPr>
              <a:t>0.4333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2212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5420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4"/>
                </a:solidFill>
              </a:rPr>
              <a:t>TP / (TP + FN)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560320" cy="1737360"/>
          </a:xfrm>
          <a:prstGeom prst="rect">
            <a:avLst/>
          </a:prstGeom>
          <a:solidFill>
            <a:srgbClr val="0D2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115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89320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A19E"/>
                </a:solidFill>
              </a:rPr>
              <a:t>0.1119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989320" y="2212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F1 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5420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4"/>
                </a:solidFill>
              </a:rPr>
              <a:t>Harmonic mean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8803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00400"/>
            <a:ext cx="8321040" cy="1600200"/>
          </a:xfrm>
          <a:prstGeom prst="rect">
            <a:avLst/>
          </a:prstGeom>
          <a:solidFill>
            <a:srgbClr val="EFF6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2735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3E"/>
                </a:solidFill>
              </a:rPr>
              <a:t>Evaluation Methodology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Gold Standard: </a:t>
            </a:r>
            <a:r>
              <a:rPr lang="en-US" sz="1100" dirty="0">
                <a:solidFill>
                  <a:srgbClr val="1A2E35"/>
                </a:solidFill>
              </a:rPr>
              <a:t>Manually defined entity lists for 10 abstracts (e.g., amiodarone, fibrillation, tachycardia)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Matching: </a:t>
            </a:r>
            <a:r>
              <a:rPr lang="en-US" sz="1100" dirty="0">
                <a:solidFill>
                  <a:srgbClr val="1A2E35"/>
                </a:solidFill>
              </a:rPr>
              <a:t>Fuzzy substring matching — if 'ventricular' ∈ 'ventricular tachycardia', counted as TP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Semantic Similarity: </a:t>
            </a:r>
            <a:r>
              <a:rPr lang="en-US" sz="1100" dirty="0">
                <a:solidFill>
                  <a:srgbClr val="1A2E35"/>
                </a:solidFill>
              </a:rPr>
              <a:t>cosine_similarity &gt; 0.70 via all-MiniLM-L6-v2 for soft matching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8920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7D"/>
                </a:solidFill>
              </a:rPr>
              <a:t>TABLE I: Structured Knowledge Extraction Results (paste below during presentation)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Discussion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1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38912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Strengths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64592" cy="16459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361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Domain-specific NER model (biomedical-ner-all) trained on clinical corpora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64592" cy="16459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391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Zero-shot relation extraction — no labeled training data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164592" cy="16459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420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Caching prevents redundant API calls, improving speed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81528"/>
            <a:ext cx="164592" cy="16459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449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End-to-end: raw CSV → structured knowledge graph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84448"/>
            <a:ext cx="164592" cy="164592"/>
          </a:xfrm>
          <a:prstGeom prst="ellipse">
            <a:avLst/>
          </a:prstGeom>
          <a:solidFill>
            <a:srgbClr val="12A19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78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Scalable: batch processing supports large abstract 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73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3931920" cy="43891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Limitations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572768"/>
            <a:ext cx="164592" cy="164592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5361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Co-occurrence ≠ true semantic relation (e.g., negation not handled)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75688"/>
            <a:ext cx="164592" cy="164592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0391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Only top-3 entities used per abstract for relation extraction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578608"/>
            <a:ext cx="164592" cy="164592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5420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NER limited to 1,000 rows — may not generalize to full corpus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081528"/>
            <a:ext cx="164592" cy="164592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0449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Hard-coded gold standard (10 rows) limits evaluation robustness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584448"/>
            <a:ext cx="164592" cy="164592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5478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Broken subword fragments still possible despite manual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A7C7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Work &amp; 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19E"/>
                </a:solidFill>
              </a:rPr>
              <a:t>Future Improvements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840480" cy="594360"/>
          </a:xfrm>
          <a:prstGeom prst="rect">
            <a:avLst/>
          </a:prstGeom>
          <a:solidFill>
            <a:srgbClr val="0A7C79">
              <a:alpha val="20000"/>
            </a:srgbClr>
          </a:solidFill>
          <a:ln w="12700">
            <a:solidFill>
              <a:srgbClr val="12A1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AC8"/>
                </a:solidFill>
              </a:rPr>
              <a:t>BioBERT / PubMedBERT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910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</a:rPr>
              <a:t>Deeper contextual NER beyond simple token labels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840480" cy="594360"/>
          </a:xfrm>
          <a:prstGeom prst="rect">
            <a:avLst/>
          </a:prstGeom>
          <a:solidFill>
            <a:srgbClr val="0A7C79">
              <a:alpha val="20000"/>
            </a:srgbClr>
          </a:solidFill>
          <a:ln w="12700">
            <a:solidFill>
              <a:srgbClr val="12A1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AC8"/>
                </a:solidFill>
              </a:rPr>
              <a:t>Negation Handling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</a:rPr>
              <a:t>Detect 'does NOT cause' vs 'causes' relations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3840480" cy="594360"/>
          </a:xfrm>
          <a:prstGeom prst="rect">
            <a:avLst/>
          </a:prstGeom>
          <a:solidFill>
            <a:srgbClr val="0A7C79">
              <a:alpha val="20000"/>
            </a:srgbClr>
          </a:solidFill>
          <a:ln w="12700">
            <a:solidFill>
              <a:srgbClr val="12A1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70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AC8"/>
                </a:solidFill>
              </a:rPr>
              <a:t>Expand Entity Types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</a:rPr>
              <a:t>Add symptoms, procedures, patient demographics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3840480" cy="594360"/>
          </a:xfrm>
          <a:prstGeom prst="rect">
            <a:avLst/>
          </a:prstGeom>
          <a:solidFill>
            <a:srgbClr val="0A7C79">
              <a:alpha val="20000"/>
            </a:srgbClr>
          </a:solidFill>
          <a:ln w="12700">
            <a:solidFill>
              <a:srgbClr val="12A1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83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AC8"/>
                </a:solidFill>
              </a:rPr>
              <a:t>Clinical QA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730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</a:rPr>
              <a:t>Answer 'what treats X?' from knowledge graph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3977640" cy="3108960"/>
          </a:xfrm>
          <a:prstGeom prst="rect">
            <a:avLst/>
          </a:prstGeom>
          <a:solidFill>
            <a:srgbClr val="0A2A38"/>
          </a:solidFill>
          <a:ln w="12700">
            <a:solidFill>
              <a:srgbClr val="0A7C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19E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417320"/>
            <a:ext cx="54864" cy="347472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3716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NLP can automate structured extraction from cardiology literature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11680"/>
            <a:ext cx="54864" cy="347472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196596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Biomedical NER + zero-shot RE form a powerful, label-free pipeline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606040"/>
            <a:ext cx="54864" cy="347472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56032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Knowledge graphs surface hidden clinical relationships at scale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200400"/>
            <a:ext cx="54864" cy="347472"/>
          </a:xfrm>
          <a:prstGeom prst="rect">
            <a:avLst/>
          </a:prstGeom>
          <a:solidFill>
            <a:srgbClr val="12A19E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1546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Foundation for clinical decision support &amp; evidence-based care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0A7C7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You!  Questions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</TotalTime>
  <Words>879</Words>
  <Application>Microsoft Office PowerPoint</Application>
  <PresentationFormat>On-screen Show (16:9)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for Cardiovascular Risk Factor Extraction</dc:title>
  <dc:subject>PptxGenJS Presentation</dc:subject>
  <dc:creator>Shanmukha Sai Prakash Jeelakarra</dc:creator>
  <cp:lastModifiedBy>SHANMUKHA SAI PRAKASH</cp:lastModifiedBy>
  <cp:revision>3</cp:revision>
  <dcterms:created xsi:type="dcterms:W3CDTF">2026-04-29T06:07:37Z</dcterms:created>
  <dcterms:modified xsi:type="dcterms:W3CDTF">2026-04-30T03:23:16Z</dcterms:modified>
</cp:coreProperties>
</file>